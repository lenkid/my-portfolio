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Del Ábaco a 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B82F6"/>
                </a:solidFill>
                <a:latin typeface="Calibri"/>
              </a:defRPr>
            </a:pPr>
            <a:r>
              <a:t>La Evolución de la Informática y 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Actividad 2 - Ingeniería Informática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Investigación y Recurso Multimedia para Portafolio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1. Conceptos Clave de la Investigación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0972800" cy="5029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¿Qué es la Ingeniería Informática / Ciencias de la Computación?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La Ingeniería Informática es la disciplina que integra:</a:t>
            </a: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  • Ciencia de la Computación</a:t>
            </a: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  • Ingeniería Eléctrica / Electrónica</a:t>
            </a: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Para diseñar, desarrollar y optimizar sistemas informáticos.</a:t>
            </a: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Se encarga de dos áreas fundamentales:</a:t>
            </a: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  → Hardware: Circuitos, componentes físicos</a:t>
            </a:r>
          </a:p>
          <a:p>
            <a:pPr>
              <a:spcAft>
                <a:spcPts val="719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  → Software: Algoritmos, sistemas operativos, aplicaciones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alibri"/>
              </a:defRPr>
            </a:pPr>
            <a:r>
              <a:t>Evolución Histórica de la Informática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Calibri"/>
              </a:defRPr>
            </a:pPr>
            <a:r>
              <a:t>Antigüedad - Siglo XIX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Cálculo Antiguo y Bases Lógicas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El Ábaco: Herramienta de cálculo antigua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Mecanismo de Antikythera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Pingala (India): Sistema binario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Charles Babbage: Máquina Analítica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Ada Lovelace: Primeros algoritmos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Calibri"/>
              </a:defRPr>
            </a:pPr>
            <a:r>
              <a:t>Siglo XIX - Década de 1930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Bases Teóricas y Circuitos Lógicos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George Boole: Álgebra Booleana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(fundamento de circuitos digitales)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Alan Turing: Máquina Universal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de Cálculo (modelo teórico)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alibri"/>
              </a:defRPr>
            </a:pPr>
            <a:r>
              <a:t>Evolución Histórica (Continuación)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Calibri"/>
              </a:defRPr>
            </a:pPr>
            <a:r>
              <a:t>1940 - 1950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Era Electrónica y Comercial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Computadoras de gran escala: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Colossus, ENIAC, UNIVAC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UNIVAC: Primer ordenador comercial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1947: Invención del transistor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→ Reemplazó tubos al vacío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→ Redujo tamaño de equipos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  <a:latin typeface="Calibri"/>
              </a:defRPr>
            </a:pPr>
            <a:r>
              <a:t>1957 - 1971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Lenguajes de Alto Nivel y Microprocesadores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1957: FORTRAN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(primer lenguaje de alto nivel)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• 1971: Microprocesador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→ Miles de transistores en un chip</a:t>
            </a:r>
          </a:p>
          <a:p>
            <a:pPr>
              <a:spcAft>
                <a:spcPts val="648"/>
              </a:spcAft>
              <a:defRPr sz="1800">
                <a:solidFill>
                  <a:srgbClr val="E2E8F0"/>
                </a:solidFill>
                <a:latin typeface="Calibri"/>
              </a:defRPr>
            </a:pPr>
            <a:r>
              <a:t>  → Inicio de la revolución del 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Desarrollo y Futuro de la Informática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Inteligencia</a:t>
            </a:r>
            <a:br/>
            <a:r>
              <a:t>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Máquinas que aprenden</a:t>
            </a:r>
            <a:br/>
            <a:r>
              <a:t>y razonan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645920"/>
            <a:ext cx="20116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Computación</a:t>
            </a:r>
            <a:br/>
            <a:r>
              <a:t>en la Nube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004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Servicios bajo demanda</a:t>
            </a:r>
            <a:br/>
            <a:r>
              <a:t>a escala 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645920"/>
            <a:ext cx="20116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Ciberseguridad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2004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Protección de datos</a:t>
            </a:r>
            <a:br/>
            <a:r>
              <a:t>y sistemas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45920"/>
            <a:ext cx="20116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32004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Internet de las Cosas</a:t>
            </a:r>
            <a:br/>
            <a:r>
              <a:t>Conectividad total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645920"/>
            <a:ext cx="2011680" cy="43891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828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B8A6"/>
                </a:solidFill>
                <a:latin typeface="Calibri"/>
              </a:defRPr>
            </a:pPr>
            <a:r>
              <a:t>Computación</a:t>
            </a:r>
            <a:br/>
            <a:r>
              <a:t>Cuántica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20040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2E8F0"/>
                </a:solidFill>
                <a:latin typeface="Calibri"/>
              </a:defRPr>
            </a:pPr>
            <a:r>
              <a:t>Procesamiento</a:t>
            </a:r>
            <a:br/>
            <a:r>
              <a:t>revolucionario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La informática se ha transformado en un motor transversal para cualquier industria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B5CF6"/>
                </a:solidFill>
                <a:latin typeface="Calibri"/>
              </a:defRPr>
            </a:pPr>
            <a:r>
              <a:t>2. Articulación al Caso Práctico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4B8A6"/>
                </a:solidFill>
                <a:latin typeface="Calibri"/>
              </a:defRPr>
            </a:pPr>
            <a:r>
              <a:t>Desarrollo de Software / Creación de Videojuegos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10972800" cy="10972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¿Cómo ha influido la evolución de la informática en la aparición, transformación o crecimiento de la trayectoria profesional seleccionada?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91840"/>
            <a:ext cx="3474720" cy="3291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"/>
              </a:defRPr>
            </a:pPr>
            <a:r>
              <a:t>APARICIÓN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Inicios: Tarjetas perforadas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y código máquina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Transistor → Microprocesador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→ Hardware gráfico rápido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Posibilitó la industria del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software interactivo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291840"/>
            <a:ext cx="3474720" cy="3291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"/>
              </a:defRPr>
            </a:pPr>
            <a:r>
              <a:t>TRANSFORMACIÓN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9319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Lenguajes de bajo nivel →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Orientados a objetos (C#)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Abstracción del hardware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Motores gráficos gestionan: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físicas, renderizado,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91840"/>
            <a:ext cx="3474720" cy="32918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"/>
              </a:defRPr>
            </a:pPr>
            <a:r>
              <a:t>CRECIMIENTO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Álgebra de Boole →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Lógica de programación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Eventos de toque,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transiciones, ciclo de vida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Optimización en tiempo real</a:t>
            </a:r>
          </a:p>
          <a:p>
            <a:pPr>
              <a:spcAft>
                <a:spcPts val="504"/>
              </a:spcAft>
              <a:defRPr sz="1400">
                <a:solidFill>
                  <a:srgbClr val="E2E8F0"/>
                </a:solidFill>
                <a:latin typeface="Calibri"/>
              </a:defRPr>
            </a:pPr>
            <a:r>
              <a:t>y despliegue multiplataforma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2F6"/>
                </a:solidFill>
                <a:latin typeface="Calibri"/>
              </a:defRPr>
            </a:pPr>
            <a:r>
              <a:t>3. Propuesta de Recurso para el Portafolio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4B8A6"/>
                </a:solidFill>
                <a:latin typeface="Calibri"/>
              </a:defRPr>
            </a:pPr>
            <a:r>
              <a:t>Infografía Interactiva / Diagrama de Línea de Tiempo</a:t>
            </a:r>
          </a:p>
        </p:txBody>
      </p:sp>
      <p:sp>
        <p:nvSpPr>
          <p:cNvPr id="4" name="Oval 3"/>
          <p:cNvSpPr/>
          <p:nvPr/>
        </p:nvSpPr>
        <p:spPr>
          <a:xfrm>
            <a:off x="1737360" y="173736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3474720" cy="3657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"/>
              </a:defRPr>
            </a:pPr>
            <a:r>
              <a:t>Fundamentos</a:t>
            </a:r>
            <a:br/>
            <a:r>
              <a:t>Históricos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Ábaco, Binario</a:t>
            </a:r>
            <a:br/>
            <a:r>
              <a:t>Turing, Lovelace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→ Creó el concepto</a:t>
            </a:r>
            <a:br/>
            <a:r>
              <a:t>de algoritmo y lógica</a:t>
            </a:r>
          </a:p>
        </p:txBody>
      </p:sp>
      <p:sp>
        <p:nvSpPr>
          <p:cNvPr id="9" name="Oval 8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834640"/>
            <a:ext cx="3474720" cy="3657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"/>
              </a:defRPr>
            </a:pPr>
            <a:r>
              <a:t>Evolución del</a:t>
            </a:r>
            <a:br/>
            <a:r>
              <a:t>Hardware y Lenguajes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Transistores</a:t>
            </a:r>
            <a:br/>
            <a:r>
              <a:t>Microprocesadores</a:t>
            </a:r>
            <a:br/>
            <a:r>
              <a:t>FORTRAN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→ Computadoras personales</a:t>
            </a:r>
            <a:br/>
            <a:r>
              <a:t>y lenguajes alto nivel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0" y="173736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834640"/>
            <a:ext cx="3474720" cy="36576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B8A6"/>
                </a:solidFill>
                <a:latin typeface="Calibri"/>
              </a:defRPr>
            </a:pPr>
            <a:r>
              <a:t>Informática</a:t>
            </a:r>
            <a:br/>
            <a:r>
              <a:t>Moderna y Mi 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4048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C#, Unity</a:t>
            </a:r>
            <a:br/>
            <a:r>
              <a:t>UI/UX, Lógica de Juego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Calibri"/>
              </a:defRPr>
            </a:pPr>
            <a:r>
              <a:t>→ Crear experiencias</a:t>
            </a:r>
            <a:br/>
            <a:r>
              <a:t>interactives sin hardware</a:t>
            </a:r>
            <a:br/>
            <a:r>
              <a:t>a bajo nivel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Conclusión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560320"/>
            <a:ext cx="1005840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La evolución de la informática ha sido fundamental para el desarrollo</a:t>
            </a: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del software interactivo y los videojuegos.</a:t>
            </a: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Desde el ábaco hasta los motores gráficos modernos como Unity,</a:t>
            </a: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cada avance tecnológico ha permitido crear experiencias más</a:t>
            </a: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inmersivas y accesibles para millones de usuarios.</a:t>
            </a: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El conocimiento de esta evolución nos permite valorar y aprovechar</a:t>
            </a:r>
          </a:p>
          <a:p>
            <a:pPr>
              <a:spcAft>
                <a:spcPts val="900"/>
              </a:spcAft>
              <a:defRPr sz="2000">
                <a:solidFill>
                  <a:srgbClr val="E2E8F0"/>
                </a:solidFill>
                <a:latin typeface="Calibri"/>
              </a:defRPr>
            </a:pPr>
            <a:r>
              <a:t>las herramientas actuales para innovar en el desarrollo de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Actividad 2 - Ingeniería Informática | Portafolio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